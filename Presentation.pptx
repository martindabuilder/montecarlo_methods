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1"/>
  </p:notesMasterIdLst>
  <p:sldIdLst>
    <p:sldId id="256" r:id="rId2"/>
    <p:sldId id="262" r:id="rId3"/>
    <p:sldId id="269" r:id="rId4"/>
    <p:sldId id="263" r:id="rId5"/>
    <p:sldId id="266" r:id="rId6"/>
    <p:sldId id="264" r:id="rId7"/>
    <p:sldId id="265" r:id="rId8"/>
    <p:sldId id="270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5E2D4-0F7F-4942-B5CD-12AB7AB9F7C3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26658-4903-4679-85BD-5F24E2E46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16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Обикаля цялото разпределение, бърн</a:t>
            </a:r>
            <a:r>
              <a:rPr lang="bg-BG" baseline="0" dirty="0" smtClean="0"/>
              <a:t> ин период за първите 5к точки за да се избегне пренаучаване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26658-4903-4679-85BD-5F24E2E468D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Дава повече</a:t>
            </a:r>
            <a:r>
              <a:rPr lang="bg-BG" baseline="0" dirty="0" smtClean="0"/>
              <a:t> тегло на точки извън съвпадащите разпределения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26658-4903-4679-85BD-5F24E2E468D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3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Отхвърля всички кандидат точки</a:t>
            </a:r>
            <a:r>
              <a:rPr lang="bg-BG" baseline="0" dirty="0" smtClean="0"/>
              <a:t> под избраната функция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26658-4903-4679-85BD-5F24E2E468D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4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34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0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12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68300" ty="203200" sx="64000" sy="64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</a:rPr>
              <a:t>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bg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05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47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2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8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01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2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rgbClr val="969696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lang="en-US" sz="1000" kern="12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12700" dist="381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53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82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5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7273CCE-E975-421D-A9C2-29DF2AFB71ED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14667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C11302-83E5-49C5-9FF8-343EDAA523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531052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Monte carlo m</a:t>
            </a:r>
            <a:r>
              <a:rPr lang="bg-BG" dirty="0" smtClean="0"/>
              <a:t>етоди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 smtClean="0"/>
              <a:t>Мартин Чалъков, ИИ 23621933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674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История и какво са </a:t>
            </a:r>
            <a:r>
              <a:rPr lang="en-US" dirty="0" smtClean="0"/>
              <a:t>Monte </a:t>
            </a:r>
            <a:r>
              <a:rPr lang="en-US" dirty="0" smtClean="0"/>
              <a:t>Carlo m</a:t>
            </a:r>
            <a:r>
              <a:rPr lang="bg-BG" dirty="0" smtClean="0"/>
              <a:t>етодите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3599384"/>
            <a:ext cx="9527059" cy="2238222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f(x) - </a:t>
            </a:r>
            <a:r>
              <a:rPr lang="bg-BG" dirty="0"/>
              <a:t>функцията която изследваме;</a:t>
            </a:r>
            <a:endParaRPr lang="en-US" dirty="0"/>
          </a:p>
          <a:p>
            <a:pPr lvl="0"/>
            <a:r>
              <a:rPr lang="en-US" dirty="0"/>
              <a:t>p(x) – </a:t>
            </a:r>
            <a:r>
              <a:rPr lang="bg-BG" dirty="0"/>
              <a:t>вероятностно разпределение (добавя се в случай на неравномерно разпределни проби);</a:t>
            </a:r>
            <a:endParaRPr lang="en-US" dirty="0"/>
          </a:p>
          <a:p>
            <a:pPr lvl="0"/>
            <a:r>
              <a:rPr lang="en-US" dirty="0"/>
              <a:t>Xi – </a:t>
            </a:r>
            <a:r>
              <a:rPr lang="bg-BG" dirty="0"/>
              <a:t>случайни проби, генерирани от избраното разпределение;</a:t>
            </a:r>
            <a:endParaRPr lang="en-US" dirty="0"/>
          </a:p>
          <a:p>
            <a:pPr lvl="0"/>
            <a:r>
              <a:rPr lang="en-US" dirty="0"/>
              <a:t>n</a:t>
            </a:r>
            <a:r>
              <a:rPr lang="bg-BG" dirty="0"/>
              <a:t> – брой симулации, колкото е по-голяма стойността толкова по-точен е резултата</a:t>
            </a:r>
            <a:r>
              <a:rPr lang="en-US" dirty="0"/>
              <a:t>;</a:t>
            </a:r>
          </a:p>
          <a:p>
            <a:pPr lvl="0"/>
            <a:r>
              <a:rPr lang="en-US" dirty="0"/>
              <a:t>1/n ∑f(xi​) – </a:t>
            </a:r>
            <a:r>
              <a:rPr lang="bg-BG" dirty="0"/>
              <a:t>апроксимация, представлява крайната средна стойност на всички резултати.  </a:t>
            </a:r>
            <a:endParaRPr lang="en-US" dirty="0"/>
          </a:p>
          <a:p>
            <a:endParaRPr lang="en-US" dirty="0"/>
          </a:p>
        </p:txBody>
      </p:sp>
      <p:pic>
        <p:nvPicPr>
          <p:cNvPr id="9" name="Content Placeholder 8" descr="https://miro.medium.com/v2/resize:fit:870/0*G1G1TwyY3icGSeHK.png"/>
          <p:cNvPicPr>
            <a:picLocks noGrp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4" y="2014195"/>
            <a:ext cx="6289590" cy="120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44498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 smtClean="0"/>
              <a:t>Базов </a:t>
            </a:r>
            <a:r>
              <a:rPr lang="en-US" dirty="0" smtClean="0"/>
              <a:t>Monte Carlo m</a:t>
            </a:r>
            <a:r>
              <a:rPr lang="bg-BG" dirty="0" smtClean="0"/>
              <a:t>етод</a:t>
            </a:r>
            <a:r>
              <a:rPr lang="en-US" dirty="0" smtClean="0"/>
              <a:t> – </a:t>
            </a:r>
            <a:r>
              <a:rPr lang="bg-BG" dirty="0" smtClean="0"/>
              <a:t>апроксимация на </a:t>
            </a:r>
            <a:r>
              <a:rPr lang="en-US" dirty="0"/>
              <a:t>π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70038" y="2103438"/>
            <a:ext cx="3748087" cy="3748087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bg-BG" dirty="0" smtClean="0"/>
              <a:t>Създава се пространство с 10000 точки в него.</a:t>
            </a:r>
          </a:p>
          <a:p>
            <a:r>
              <a:rPr lang="bg-BG" dirty="0" smtClean="0"/>
              <a:t>Проверява се дали точките попадат в кръг.</a:t>
            </a:r>
          </a:p>
          <a:p>
            <a:r>
              <a:rPr lang="bg-BG" dirty="0" smtClean="0"/>
              <a:t>Разглеждат се всички точки които попадат в окръжността</a:t>
            </a:r>
          </a:p>
          <a:p>
            <a:r>
              <a:rPr lang="bg-BG" dirty="0" smtClean="0"/>
              <a:t>Извършват се изчисления върху съотношението на приетите точки</a:t>
            </a:r>
            <a:endParaRPr lang="en-US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370320" y="4985181"/>
            <a:ext cx="4754880" cy="37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2063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dirty="0" smtClean="0"/>
              <a:t>Видима разлика при малък набор от данни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37038"/>
            <a:ext cx="4754880" cy="497196"/>
          </a:xfrm>
        </p:spPr>
        <p:txBody>
          <a:bodyPr>
            <a:normAutofit/>
          </a:bodyPr>
          <a:lstStyle/>
          <a:p>
            <a:r>
              <a:rPr lang="bg-BG" sz="2400" b="1" dirty="0" smtClean="0"/>
              <a:t>100</a:t>
            </a:r>
            <a:r>
              <a:rPr lang="en-US" sz="2400" dirty="0" smtClean="0"/>
              <a:t> </a:t>
            </a:r>
            <a:r>
              <a:rPr lang="bg-BG" sz="2400" dirty="0" smtClean="0"/>
              <a:t>произволни точки</a:t>
            </a:r>
            <a:endParaRPr lang="en-US" sz="24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44040" y="2334234"/>
            <a:ext cx="3200400" cy="32004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0320" y="1837038"/>
            <a:ext cx="4754880" cy="497196"/>
          </a:xfrm>
        </p:spPr>
        <p:txBody>
          <a:bodyPr>
            <a:normAutofit/>
          </a:bodyPr>
          <a:lstStyle/>
          <a:p>
            <a:r>
              <a:rPr lang="bg-BG" sz="2400" b="1" dirty="0" smtClean="0"/>
              <a:t>1000</a:t>
            </a:r>
            <a:r>
              <a:rPr lang="bg-BG" sz="2400" dirty="0" smtClean="0"/>
              <a:t> произволни точки</a:t>
            </a:r>
            <a:endParaRPr lang="en-US" sz="2400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7147560" y="2334234"/>
            <a:ext cx="3200400" cy="320040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560" y="5732826"/>
            <a:ext cx="3200400" cy="243695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040" y="5732825"/>
            <a:ext cx="3200400" cy="24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6187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Markov Chain Monte Carlo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95229" y="2103438"/>
            <a:ext cx="4497704" cy="3748087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99067" y="2103438"/>
            <a:ext cx="4497704" cy="3748087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4948237" y="5940769"/>
            <a:ext cx="22955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490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Sampling</a:t>
            </a:r>
            <a:endParaRPr lang="en-US" dirty="0"/>
          </a:p>
        </p:txBody>
      </p:sp>
      <p:pic>
        <p:nvPicPr>
          <p:cNvPr id="6" name="Content Placeholder 5"/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95229" y="2103438"/>
            <a:ext cx="4497704" cy="3748087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99067" y="2103438"/>
            <a:ext cx="4497704" cy="3748087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5"/>
          <a:stretch>
            <a:fillRect/>
          </a:stretch>
        </p:blipFill>
        <p:spPr>
          <a:xfrm>
            <a:off x="3263265" y="5940769"/>
            <a:ext cx="5665470" cy="37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0172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Rejection Sampling</a:t>
            </a:r>
            <a:endParaRPr lang="en-US" dirty="0"/>
          </a:p>
        </p:txBody>
      </p:sp>
      <p:pic>
        <p:nvPicPr>
          <p:cNvPr id="5" name="Content Placeholder 4"/>
          <p:cNvPicPr>
            <a:picLocks noGrp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95229" y="2103438"/>
            <a:ext cx="4497704" cy="3748087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499067" y="2103438"/>
            <a:ext cx="4497704" cy="374808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4962842" y="5940769"/>
            <a:ext cx="226631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6072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bg-BG" dirty="0"/>
              <a:t>Предимства, недостатъци и среди за използване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Предимства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bg-BG" dirty="0" smtClean="0"/>
              <a:t>Спестяват човешки усилия;</a:t>
            </a:r>
          </a:p>
          <a:p>
            <a:r>
              <a:rPr lang="bg-BG" dirty="0" smtClean="0"/>
              <a:t>Справят се добре с голям набор от данни;</a:t>
            </a:r>
          </a:p>
          <a:p>
            <a:r>
              <a:rPr lang="bg-BG" dirty="0" smtClean="0"/>
              <a:t>Справят се добре с пространства с шумни или несигурни данни</a:t>
            </a:r>
          </a:p>
          <a:p>
            <a:r>
              <a:rPr lang="bg-BG" dirty="0" smtClean="0"/>
              <a:t>Лесни за имплементация и моделиране за определни сфери/нужди;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bg-BG" dirty="0" smtClean="0"/>
              <a:t>Недостатъци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0"/>
            <a:ext cx="4754880" cy="3595234"/>
          </a:xfrm>
        </p:spPr>
        <p:txBody>
          <a:bodyPr/>
          <a:lstStyle/>
          <a:p>
            <a:r>
              <a:rPr lang="bg-BG" dirty="0" smtClean="0"/>
              <a:t>Изискват силна технология;</a:t>
            </a:r>
          </a:p>
          <a:p>
            <a:r>
              <a:rPr lang="bg-BG" dirty="0" smtClean="0"/>
              <a:t>Очакват значително по-голям брой входни данни в сравнение с други модели;</a:t>
            </a:r>
          </a:p>
          <a:p>
            <a:r>
              <a:rPr lang="bg-BG" dirty="0" smtClean="0"/>
              <a:t>Ако новите стойности/разпределенията са небалансирани крайните резултати ще са неточни</a:t>
            </a:r>
            <a:endParaRPr lang="en-US" dirty="0" smtClean="0"/>
          </a:p>
          <a:p>
            <a:r>
              <a:rPr lang="bg-BG" dirty="0" smtClean="0"/>
              <a:t>Понякога резултатите трудно се анализират;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02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374396"/>
            <a:ext cx="9070848" cy="2587752"/>
          </a:xfrm>
        </p:spPr>
        <p:txBody>
          <a:bodyPr/>
          <a:lstStyle/>
          <a:p>
            <a:r>
              <a:rPr lang="bg-BG" dirty="0" smtClean="0"/>
              <a:t>Благодаря за вниманието!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0620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373545"/>
      </a:dk2>
      <a:lt2>
        <a:srgbClr val="BCD0E0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6793CD"/>
      </a:accent6>
      <a:hlink>
        <a:srgbClr val="6B9F25"/>
      </a:hlink>
      <a:folHlink>
        <a:srgbClr val="9F6715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913DB040-6816-4415-960D-8178C78575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686</TotalTime>
  <Words>253</Words>
  <Application>Microsoft Office PowerPoint</Application>
  <PresentationFormat>Widescreen</PresentationFormat>
  <Paragraphs>37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Savon</vt:lpstr>
      <vt:lpstr>Monte carlo mетоди </vt:lpstr>
      <vt:lpstr>История и какво са Monte Carlo mетодите</vt:lpstr>
      <vt:lpstr>Базов Monte Carlo mетод – апроксимация на π</vt:lpstr>
      <vt:lpstr>Видима разлика при малък набор от данни</vt:lpstr>
      <vt:lpstr>Markov Chain Monte Carlo</vt:lpstr>
      <vt:lpstr>Importance Sampling</vt:lpstr>
      <vt:lpstr>Rejection Sampling</vt:lpstr>
      <vt:lpstr>Предимства, недостатъци и среди за използване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17</cp:revision>
  <dcterms:created xsi:type="dcterms:W3CDTF">2026-05-02T16:41:56Z</dcterms:created>
  <dcterms:modified xsi:type="dcterms:W3CDTF">2026-05-04T18:18:08Z</dcterms:modified>
</cp:coreProperties>
</file>